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229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F59E0B"/>
                </a:solidFill>
              </a:rPr>
              <a:t>FLEETCO MANAGEMENT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Investor Cost &amp; Revenue Analysis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4231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Whole-system scope · hosting economics · unit &amp; platform margins · 10-year growth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3337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List price 35/unit/month · 68% modeled SaaS gross margin · Render production today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</a:rPr>
              <a:t>https://fleetcomanagement.org  ·  (360) 952-1249  ·  Confidential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644652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· Investor economics · https://fleetcomanagement.org · Slide 1 · Oct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PURPOSE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What This Deck Answers for Investors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Operational costs are not passed through as line items to customers — they determine margin at scale.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44652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· Investor economics · https://fleetcomanagement.org · Slide 2 · Oct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How much does it cost FleetCo to run the platform (fixed vs variable) on Render vs a typical AWS stack?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What gross profit remains per customer at 5, 10, 25, and 50+ units when billing ~$35/unit/month?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How do SaaS revenue, COGS, and EBITDA evolve in the base 10-year financial model (18 → 780 customers)?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What data and modules exist today — creating retention, upsell, and a defensible operational record?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Where optional spend (LiveKit video, Groq AI, R2 storage, Stripe) moves the cost curve?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Combined upside: affiliated Fleet Services International (FSI) mobile territories alongside SaaS ARR.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High-Margin SaaS on a Deep Operations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4652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· Investor economics · https://fleetcomanagement.org · Slide 3 · Oct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1097280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Commercial pricing: 35/unit/month (5% discount on annual prepay) — full owner portal, customer portal, Android driver app</a:t>
            </a:r>
            <a:endParaRPr lang="en-US" sz="11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Base case Year 5: 220 customers · $1.36M SaaS ARR · EBITDA $85K (first meaningful operating profit year in model)</a:t>
            </a:r>
            <a:endParaRPr lang="en-US" sz="11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Base case Year 10: 780 customers · $5.71M SaaS ARR · EBITDA $1.43M</a:t>
            </a:r>
            <a:endParaRPr lang="en-US" sz="11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Year 10 combined SaaS + Fleet Services International LTD (FSI authorized dealer · affiliated with FleetCo): $12.40M revenue · 12 FSI territories</a:t>
            </a:r>
            <a:endParaRPr lang="en-US" sz="11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Illustrative infra at ~50 paying fleets: ~$95–185/mo platform fixed (no video vs heavy LiveKit) — highly leverageable as customers add units</a:t>
            </a:r>
            <a:endParaRPr lang="en-US" sz="11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Key investor takeaway: variable COGS per unit stays low; revenue scales linearly with fleet size under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PLATFORM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FleetCo Command Center — One Multi-Tenant SaaS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Production: fleetcomanagement.org on Render (Node API + Vite SPA + JSON/SQL persistence).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44652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· Investor economics · https://fleetcomanagement.org · Slide 4 · Oct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Roles: platform owner/executive, internal staff (dispatch, shop, finance), customer org admins, drivers (mobile)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Stripe subscriptions &amp; Connect for billing, load fees, and carrier payouts where enabled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Resend transactional email; Groq-powered marketing guide &amp; autopilot (optional API spend)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LiveKit Cloud for live cab/yard video streams and ~15-day recording retention (optional, usage-sensitive)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Persistent disk on Render for uploads; R2 mirror documented for video scale-out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FleetCo Driver Android app: GPS breadcrumbs, barcode scans, routes, HOS duty events, POD — ties to same API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OWNER &amp; STAFF MODULES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Operational Surface Area (Portal Tabs)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Each module generates structured records in the shared entity store.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44652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· Investor economics · https://fleetcomanagement.org · Slide 5 · Oct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1097280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Dashboard · Fleet map (live locations, trails, yards) · Vehicles &amp; accessories · Drivers &amp; documents</a:t>
            </a:r>
            <a:endParaRPr lang="en-US" sz="11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Dispatch &amp; loads · Routes &amp; stops · Work orders (preventive / corrective / predictive) · Maintenance schedules</a:t>
            </a:r>
            <a:endParaRPr lang="en-US" sz="11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Fuel logs, cards, stations · IFTA-oriented reporting · Inspections · Incidents · HOS logs &amp; FMCSA duty clocks</a:t>
            </a:r>
            <a:endParaRPr lang="en-US" sz="11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Parts inventory · Vendors · Purchase orders · Service templates · Time clock &amp; trailer assignments</a:t>
            </a:r>
            <a:endParaRPr lang="en-US" sz="11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Accounting: chart of accounts, journal entries, invoices · Payroll runs &amp; disbursements · Customer P&amp;L views</a:t>
            </a:r>
            <a:endParaRPr lang="en-US" sz="11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Dashcam sessions · Live stream sessions · Safety events · Marketing autopilot · Broker marketplace hooks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CUSTOMER PORTAL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What Paying Carriers See (Scoped Data)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Customer users only access their organization’s entities — enforced server-side.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44652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· Investor economics · https://fleetcomanagement.org · Slide 6 · Oct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Fleet visibility, fuel, maintenance status, documents, and invoices aligned to their units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Load and dispatch collaboration where enabled · Messaging · Usage feedback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Subscription and payment methods via Stripe · Trial and broker application flows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Reduces support burden: self-service status vs phone tag across 5+ legacy tools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Upsell path: more units, enterprise telematics integrations, video add-ons, FSI mobile PM contracts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DATA LAYER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60+ Entity Types — Operational System of Record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Representative list from production API (server/index.js ENTITY_NAMES).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44652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· Investor economics · https://fleetcomanagement.org · Slide 7 · Oct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1097280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Core fleet: Customer, Vehicle, VehicleDocument, VehicleAccessory, DriverDocument, Yard, YardPlacement, TrailerAssignment</a:t>
            </a:r>
            <a:endParaRPr lang="en-US" sz="105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Movement &amp; compliance: DriverLocation, HOSLog, HOSDutyEvent, Inspection, Incident, DrivingSafetyEvent, TimeClockEntry</a:t>
            </a:r>
            <a:endParaRPr lang="en-US" sz="105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Maintenance: WorkOrder, MaintenanceSchedule, ServiceTemplate, PartInventory, Vendor, PurchaseOrder, DiagnosticCode</a:t>
            </a:r>
            <a:endParaRPr lang="en-US" sz="105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Fuel &amp; money: FuelLog, FuelCard, FuelStation, Invoice, ChartOfAccount, JournalEntry, PayrollRecord, PayrollRun, Subscription</a:t>
            </a:r>
            <a:endParaRPr lang="en-US" sz="105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Dispatch &amp; loads: Load, DeliveryRoute, DeliveryStop, LoadMessage, LoadMarketplaceEvent, BarcodeScan</a:t>
            </a:r>
            <a:endParaRPr lang="en-US" sz="105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Video &amp; safety: DashcamSession, DashcamFrame, LiveStreamSession, LiveStreamRecording</a:t>
            </a:r>
            <a:endParaRPr lang="en-US" sz="105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Platform &amp; growth: User, PortalActivity, Inquiry, TrialRequest, Marketing* entities, JobPosting, JobApplication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DATA VALUE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Why the Data Moat Matters for Revenue &amp; Retention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4652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· Investor economics · https://fleetcomanagement.org · Slide 8 · Oct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1097280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Historical fuel, PM, and cost-per-mile data improves pricing and cross-sell (maintenance programs, fuel coaching)</a:t>
            </a:r>
            <a:endParaRPr lang="en-US" sz="11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HOS and inspection records reduce compliance risk — switching cost rises after 12–24 months of logs</a:t>
            </a:r>
            <a:endParaRPr lang="en-US" sz="11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GPS + work order linkage proves SLA performance for shipper contracts</a:t>
            </a:r>
            <a:endParaRPr lang="en-US" sz="11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Aggregated (anonymized) benchmarks become a future analytics SKU for enterprise tiers</a:t>
            </a:r>
            <a:endParaRPr lang="en-US" sz="11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FSI territories consume the same maintenance and vehicle data for on-site service scheduling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REVENUE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How FleetCo Makes Money (SaaS)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Public list price aligns with product copy: $35/unit/mo.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44652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· Investor economics · https://fleetcomanagement.org · Slide 9 · Oct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35/unit/month — bill only active units; annual prepay ~5% discount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Enterprise (50+ units): custom quote — telematics integrations, dedicated support, volume pricing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Financial model ARPU (~$450–610/mo per customer by Year 1–10) reflects mix of fleet sizes, legacy tiers, and add-ons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Stripe fees: ~2.9% + $0.30 on card revenue — modeled inside COGS, not charged separately to customers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Future revenue: marketplace load fees, video storage tiers, payroll processing margins, FSI service contracts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PRICING TIERS (MODEL)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Legacy Tier Assumptions in 10-Year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Used alongside per-unit pricing for ARPU blending in financial-model.mjs.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44652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· Investor economics · https://fleetcomanagement.org · Slide 10 · Oct 2026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1115568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2788920"/>
                <a:gridCol w="2788920"/>
                <a:gridCol w="2788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Monthly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Yearly (disc.)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Fleet cap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Starter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$299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$3,229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≤5 units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Growth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$599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$6,471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≤15 units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Enterprise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$1,200+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$12,960+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16+ units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Per unit (live product)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$35/unit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5% off annual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Any size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39776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Billing mix assumption: 70% monthly / 30% annual · Churn improves 10% → 6%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LAUNCH COSTS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One-Time &amp; Year-1 Non-Infra Spend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Qualitative ranges — actuals depend on legal and hiring choices.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44652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· Investor economics · https://fleetcomanagement.org · Slide 11 · Oct 2026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11155680" cy="914400"/>
        </p:xfrm>
        <a:graphic>
          <a:graphicData uri="http://schemas.openxmlformats.org/drawingml/2006/table">
            <a:tbl>
              <a:tblPr/>
              <a:tblGrid>
                <a:gridCol w="3718560"/>
                <a:gridCol w="3718560"/>
                <a:gridCol w="3718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Typical range (USD)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Domain + DNS + email auth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$50–200/yr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SPF/DKIM for Resend on fleetcomanagement.org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Apple + Google developer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$124/yr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Play internal testing live; App Store when iOS ships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Legal (MSA, privacy, DPA)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$2K–15K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One-time; scales with enterprise sales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Initial sales &amp; marketing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$5K–50K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Trade shows, ads, outbound — model opex separate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FSI territory capital (optional)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150000-500000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Per affiliated mobile territory — not SaaS COGS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HOSTING TODAY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Render Production Stack (render.yaml)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Current deployment pattern — costs rise with plan tier, disk, and database.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44652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· Investor economics · https://fleetcomanagement.org · Slide 12 · Oct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Web service: Node server (API + static SPA) · buildCommand npm run build:render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PostgreSQL database (fleetco-db) + DATA_PATH / UPLOADS_PATH on persistent disk (10 GB default; increase for video)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Environment: JWT, Stripe, Resend, Groq, LiveKit, owner bootstrap — secrets via Render dashboard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Free/starter tiers suitable for demo; production with paying customers typically $40–120+/mo all-in (web + DB + disk)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Scaling lever: upgrade web instance, disk GB, and Postgres plan before moving to AWS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RENDER COST BANDS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Monthly Fixed Platform Cost (Illustrative)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Excludes headcount; includes typical managed DB + disk.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44652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· Investor economics · https://fleetcomanagement.org · Slide 13 · Oct 2026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11155680" cy="914400"/>
        </p:xfrm>
        <a:graphic>
          <a:graphicData uri="http://schemas.openxmlformats.org/drawingml/2006/table">
            <a:tbl>
              <a:tblPr/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Customers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Units Mgmt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Est. Render/mo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Driver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Pilot / demo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1–3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&lt;30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$0–25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Free tier limits; cold starts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Early revenue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5–20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50–200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$45–95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Starter paid web + DB + 10GB disk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Growth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20–80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200–800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$95–185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Plus disk expansion; consider R2 for video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Scale-out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80+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800+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$185–400+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Multi-instance or migrate to AWS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AWS ALTERNATIVE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Typical AWS Stack (When Render Caps Out)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More control; higher ops burden; better for multi-region and burst video.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44652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· Investor economics · https://fleetcomanagement.org · Slide 14 · Oct 2026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11155680" cy="914400"/>
        </p:xfrm>
        <a:graphic>
          <a:graphicData uri="http://schemas.openxmlformats.org/drawingml/2006/table">
            <a:tbl>
              <a:tblPr/>
              <a:tblGrid>
                <a:gridCol w="3718560"/>
                <a:gridCol w="3718560"/>
                <a:gridCol w="3718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Est. monthly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Compute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EC2 t4g.small or Fargate (2 vCPU)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$25–70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Database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RDS Postgres db.t4g.micro → small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$15–80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Object storage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S3 + CloudFront for uploads/video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$5–200+ (usage)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Load balancer / DNS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ALB + Route53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$20–35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Email / AI / video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SES, Groq, LiveKit (same vendors)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Variable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Total starter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Single-region MVP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$80–200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Total growth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HA + backups + monitoring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$200–600+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VARIABLE COGS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Per-Customer &amp; Per-Unit Variable Costs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Largest swing factors: video storage, email volume, AI sessions, payment mix.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44652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· Investor economics · https://fleetcomanagement.org · Slide 15 · Oct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Storage: JSON rows + uploads on disk/S3 — estimate $0.85–2.50/unit/mo depending on dashcam/video adoption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Email: Resend — cents per thousand; onboarding and payment reminders scale with users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Groq AI: marketing guide/autopilot — marginal $ per session; cap via rate limits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LiveKit: participant-minutes and egress — budget only for customers using live stream/dashcam heavily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Stripe: ~2.9% + $0.30 on subscriptions and transaction flows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Support: allocate ~$8–25/customer/mo at early scale (phone/chat); falls as self-service and docs improve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UNIT ECONOMICS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Single Customer — Cost vs Revenue (No Video)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Assumes 50 customers share ~$95/mo fixed platform; illustrative not GAAP.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44652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· Investor economics · https://fleetcomanagement.org · Slide 16 · Oct 2026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11155680" cy="914400"/>
        </p:xfrm>
        <a:graphic>
          <a:graphicData uri="http://schemas.openxmlformats.org/drawingml/2006/table">
            <a:tbl>
              <a:tblPr/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Units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Rev/mo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Est. COGS/mo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Gross profit/mo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GM%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$175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$23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$152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87%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$350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$32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$318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91%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$875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$60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$815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93%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$1750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$107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$1643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94%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41148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At 10 units: ~$350/mo revenue vs ~$25–40/mo incremental COGS → strong unit-level contribution before sales opex.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UNIT ECONOMICS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Single Customer — Video-Heavy Scenario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LiveKit + larger disk/R2 — still profitable at list price above ~8 units.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44652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· Investor economics · https://fleetcomanagement.org · Slide 17 · Oct 2026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11155680" cy="914400"/>
        </p:xfrm>
        <a:graphic>
          <a:graphicData uri="http://schemas.openxmlformats.org/drawingml/2006/table">
            <a:tbl>
              <a:tblPr/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Units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Rev/mo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Est. COGS/mo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Gross profit/mo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GM%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$175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$33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$142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81%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$350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$51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$299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86%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$875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$103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$772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88%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$1750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$191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$1559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89%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41148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Mitigation: video as priced add-on ($5–15/unit), R2 lifecycle rules, shorter retention default.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PLATFORM LEVERAGE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Fixed Cost Spread as Customer Count Grows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4652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· Investor economics · https://fleetcomanagement.org · Slide 18 · Oct 2026</a:t>
            </a:r>
            <a:endParaRPr lang="en-US" sz="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20240"/>
          <a:ext cx="11155680" cy="914400"/>
        </p:xfrm>
        <a:graphic>
          <a:graphicData uri="http://schemas.openxmlformats.org/drawingml/2006/table">
            <a:tbl>
              <a:tblPr/>
              <a:tblGrid>
                <a:gridCol w="3718560"/>
                <a:gridCol w="3718560"/>
                <a:gridCol w="3718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Paying customers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Fixed ~$95/mo alloc/customer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Fixed ~$185/mo (video) alloc/customer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$9.50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$18.50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$3.80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$7.40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$1.90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$3.70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$0.95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$1.85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220 (Y5 base)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$0.43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$0.84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4434840"/>
            <a:ext cx="10972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This is why SaaS gross margin modeled at 68% is achievable once opex for sales/engineering is controlled.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COST VS REVENUE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Monthly Snapshot — 10 Customers × 12 Units (120 units)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Pure SaaS slice; excludes payroll and marketing opex.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44652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· Investor economics · https://fleetcomanagement.org · Slide 19 · Oct 2026</a:t>
            </a:r>
            <a:endParaRPr lang="en-US" sz="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11155680" cy="914400"/>
        </p:xfrm>
        <a:graphic>
          <a:graphicData uri="http://schemas.openxmlformats.org/drawingml/2006/table">
            <a:tbl>
              <a:tblPr/>
              <a:tblGrid>
                <a:gridCol w="5577840"/>
                <a:gridCol w="5577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Line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Monthly USD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Gross subscription revenue (120 × $35)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$4,200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Platform hosting (Render mid-tier)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~$95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Storage &amp; API variable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~$102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Email + support allocation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~$115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Stripe fees (~2.9%)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~$122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Total est. COGS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~$434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Est. gross profit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$3766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Est. gross margin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90%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ANNUAL 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Same Cohort — Annualized (120 units under management)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4652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· Investor economics · https://fleetcomanagement.org · Slide 20 · Oct 2026</a:t>
            </a:r>
            <a:endParaRPr lang="en-US" sz="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11155680" cy="914400"/>
        </p:xfrm>
        <a:graphic>
          <a:graphicData uri="http://schemas.openxmlformats.org/drawingml/2006/table">
            <a:tbl>
              <a:tblPr/>
              <a:tblGrid>
                <a:gridCol w="5577840"/>
                <a:gridCol w="5577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Annual gross revenue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$50,400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Annual est. COGS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$5206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Annual est. gross profit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$45194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Revenue per unit per year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$420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COGS per unit per year (est.)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$43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MODEL ASSUMPTIONS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Base Case SaaS Financial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Source: marketing/financial-model.mjs — Year 1 = first commercial year 2026.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44652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· Investor economics · https://fleetcomanagement.org · Slide 21 · Oct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Gross margin 68% — COGS = hosting, support, payment fees, third-party APIs (not R&amp;D or sales salaries)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Customer count EOY Year 1 → 10: 18 → 780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ARPU grows with fleet size and tier mix: $450 → $610/customer/month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Opex line in model: sales, engineering, G&amp;A — EBITDA turns positive base case Year 5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Cumulative SaaS revenue (10 yr): $19.01M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GROWTH TABLE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Years 1–5 — Customers, ARR, EBITDA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Base projection.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44652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· Investor economics · https://fleetcomanagement.org · Slide 22 · Oct 2026</a:t>
            </a:r>
            <a:endParaRPr lang="en-US" sz="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11155680" cy="914400"/>
        </p:xfrm>
        <a:graphic>
          <a:graphicData uri="http://schemas.openxmlformats.org/drawingml/2006/table">
            <a:tbl>
              <a:tblPr/>
              <a:tblGrid>
                <a:gridCol w="1593669"/>
                <a:gridCol w="1593669"/>
                <a:gridCol w="1593669"/>
                <a:gridCol w="1593669"/>
                <a:gridCol w="1593669"/>
                <a:gridCol w="1593669"/>
                <a:gridCol w="159366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Cust EOY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ARPU/mo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Annual rev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ARR EOY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EBITDA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2026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$450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$49K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$97K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$-146,952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2027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$470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$169K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$237K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$-164,944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2028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85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$485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$367K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$495K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$-130,671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2029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145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$500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$690K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$870K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$-50,800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2030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220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$515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$1.12M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$1.36M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$85K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GROWTH TABLE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Years 6–10 — Customers, ARR, EBITDA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Base projection.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44652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· Investor economics · https://fleetcomanagement.org · Slide 23 · Oct 2026</a:t>
            </a:r>
            <a:endParaRPr lang="en-US" sz="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11155680" cy="914400"/>
        </p:xfrm>
        <a:graphic>
          <a:graphicData uri="http://schemas.openxmlformats.org/drawingml/2006/table">
            <a:tbl>
              <a:tblPr/>
              <a:tblGrid>
                <a:gridCol w="1593669"/>
                <a:gridCol w="1593669"/>
                <a:gridCol w="1593669"/>
                <a:gridCol w="1593669"/>
                <a:gridCol w="1593669"/>
                <a:gridCol w="1593669"/>
                <a:gridCol w="159366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Cust EOY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ARPU/mo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Annual rev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ARR EOY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EBITDA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2031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310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$535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$1.70M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$1.99M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$257K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2032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410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$555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$2.40M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$2.73M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$480K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2033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520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$575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$3.21M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$3.59M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$731K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2034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640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$590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$4.11M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$4.53M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$1.04M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2035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780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$610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$5.20M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$5.71M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$1.43M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SCENARIOS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Year 5 ARR — Conservative / Base / Optimistic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4652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· Investor economics · https://fleetcomanagement.org · Slide 24 · Oct 2026</a:t>
            </a:r>
            <a:endParaRPr lang="en-US" sz="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20240"/>
          <a:ext cx="11155680" cy="914400"/>
        </p:xfrm>
        <a:graphic>
          <a:graphicData uri="http://schemas.openxmlformats.org/drawingml/2006/table">
            <a:tbl>
              <a:tblPr/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Customers EOY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ARPU/mo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Annual rev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ARR EOY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Conservative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160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$480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$768K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$922K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Base Case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220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$515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$1.12M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$1.36M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Optimistic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280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$550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$1.51M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$1.85M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SCENARIOS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Year 10 ARR — Conservative / Base / Optimistic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4652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· Investor economics · https://fleetcomanagement.org · Slide 25 · Oct 2026</a:t>
            </a:r>
            <a:endParaRPr lang="en-US" sz="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20240"/>
          <a:ext cx="11155680" cy="914400"/>
        </p:xfrm>
        <a:graphic>
          <a:graphicData uri="http://schemas.openxmlformats.org/drawingml/2006/table">
            <a:tbl>
              <a:tblPr/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Customers EOY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ARPU/mo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Annual rev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ARR EOY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Conservative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520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$520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$2.97M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$3.24M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Base Case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780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$610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$5.20M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$5.71M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Optimistic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1050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$680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$7.81M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$8.57M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COMBINED REVENUE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SaaS + Affiliated FSI Territories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Protected territory · mobile workstation · preventative maintenance + breakdown calls · not a franchise (no royalties per FSI site)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44652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· Investor economics · https://fleetcomanagement.org · Slide 26 · Oct 2026</a:t>
            </a:r>
            <a:endParaRPr lang="en-US" sz="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11155680" cy="914400"/>
        </p:xfrm>
        <a:graphic>
          <a:graphicData uri="http://schemas.openxmlformats.org/drawingml/2006/table">
            <a:tbl>
              <a:tblPr/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SaaS rev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FSI rev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FSI locs EOY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$169K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$420K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$589K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$690K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$1.45M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$2.14M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$1.70M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$2.75M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$4.45M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$3.21M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$4.55M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$7.76M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$5.20M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$7.20M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$12.40M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FSI gross margin ~42% vs SaaS ~68% — different COGS profile (labor/parts).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EBITDA PATH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When Operating Profit Turns (Base SaaS Model)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Opex in model includes team scaling — not hosting alone.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44652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· Investor economics · https://fleetcomanagement.org · Slide 27 · Oct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Years 1–4: negative EBITDA while building product, sales, and support — typical SaaS J-curve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Year 5: EBITDA $85K on $1.12M revenue — break-even zone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Year 7: EBITDA $480K · Year 10: $1.43M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Hosting COGS stays a single-digit % of revenue at scale; opex dominates until customer velocity compounds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Investor focus: CAC payback on $35/unit streams, churn ≤6%, and ARPU expansion via units + enterprise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GROWTH DRIVERS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How Customer &amp; Unit Counts Compound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4652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· Investor economics · https://fleetcomanagement.org · Slide 28 · Oct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Outbound to 5–50 unit regional carriers — sweet spot for all-in-one vs McLeod + maintenance spreadsheets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FSI mobile PM converts break-fix fleets to subscribed maintenance + SaaS bundle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Driver app on Play Store unlocks proof-of-delivery and HOS accuracy — reduces churn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Marketplace and broker features add transaction revenue atop subscription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Referrals from fuel savings and IFTA time savings (documented in marketing case studies)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Land with 8–15 units; expand to 25+ as dispatch and accounting modules replace incumbents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MARKET CONTEXT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TAM &amp; SAM (Qualitative)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U.S. for-hire and private fleets — millions of Class 3–8 assets.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44652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· Investor economics · https://fleetcomanagement.org · Slide 29 · Oct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SAM: tens of thousands of carriers with 5–100 trucks using disconnected tools — target ICP for FleetCo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At 780 customers × ~15 avg units (Y10 base): ~11,700 billable units → ~$4.9M/yr at pure $35/unit (model uses higher ARPU with tiers/add-ons → $5.2M+ annual)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Compliance (FMCSA HOS, DVIR, drug screening records) creates non-discretionary software budget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Video/telematics upsell aligns with insurance and safety program spend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INVESTOR METRICS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Suggested KPI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4652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· Investor economics · https://fleetcomanagement.org · Slide 30 · Oct 2026</a:t>
            </a:r>
            <a:endParaRPr lang="en-US" sz="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11155680" cy="914400"/>
        </p:xfrm>
        <a:graphic>
          <a:graphicData uri="http://schemas.openxmlformats.org/drawingml/2006/table">
            <a:tbl>
              <a:tblPr/>
              <a:tblGrid>
                <a:gridCol w="3718560"/>
                <a:gridCol w="3718560"/>
                <a:gridCol w="3718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KPI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Target direction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Why it matters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Billable units under management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Up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Primary revenue driver at $35/unit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Net revenue retention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&gt;100%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Unit expansion within accounts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Logo churn (annual)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≤6–10%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Model matures to 6%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Gross margin 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≥65%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Hosting leverage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CAC payback (months)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&lt;18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SMB fleet sales efficiency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Infra $ / $1 ARR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Down over time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Render/AWS efficiency + R2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USE OF FUNDS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Typical Seed / Growth Capital Allocation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Illustrative — adjust to your raise size.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44652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· Investor economics · https://fleetcomanagement.org · Slide 31 · Oct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40% — Sales &amp; customer success (fleet industry reps, onboarding playbooks)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35% — Engineering (iOS parity, telematics integrations, hardening multi-tenant scale)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15% — Marketing &amp; events (trade shows, digital, case studies)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10% — Infra &amp; security (SOC2 path, backups, penetration test, R2/LiveKit reserves)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FSI territory expansion can be capital-separated — mobile service uses different ROI than SaaS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MILESTONES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Execution Timeline (from Financial Model)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4652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· Investor economics · https://fleetcomanagement.org · Slide 32 · Oct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1097280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2026 H2: FleetCo Driver on Google Play · FSI dealership territory pilot (mobile PM/repair, Dallas metro)</a:t>
            </a:r>
            <a:endParaRPr lang="en-US" sz="11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Month 14 (~Year 2): First $100K SaaS ARR · primary FSI territory at target fleet-account capacity</a:t>
            </a:r>
            <a:endParaRPr lang="en-US" sz="11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Year 5: $1.36M+ SaaS ARR · 4 FSI dealer territories · combined revenue $3.2M+ · EBITDA break-even (SaaS base case)</a:t>
            </a:r>
            <a:endParaRPr lang="en-US" sz="11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Year 7: $2.7M+ SaaS ARR · 6 FSI territories · iOS App Store parity with Android</a:t>
            </a:r>
            <a:endParaRPr lang="en-US" sz="11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Year 10: $5.7M SaaS ARR · 12 FSI territories · $12.4M combined revenue · ~4,500+ vehicles under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RISKS &amp; MITIGATIONS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Could Compress Margin or Slow Growth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4652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· Investor economics · https://fleetcomanagement.org · Slide 33 · Oct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1097280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Video storage costs spike → price video tier; default retention; R2 lifecycle policies</a:t>
            </a:r>
            <a:endParaRPr lang="en-US" sz="11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Render limits → documented AWS migration; horizontal API instances</a:t>
            </a:r>
            <a:endParaRPr lang="en-US" sz="11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Stripe/dispute risk → clear MSA, usage billing alignment to active units</a:t>
            </a:r>
            <a:endParaRPr lang="en-US" sz="11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Competitive ELD mandates → FMCSA HOS duty events already in platform; continue parity with certified ELD partners</a:t>
            </a:r>
            <a:endParaRPr lang="en-US" sz="11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Key person / support load → documentation, in-app guide, tiered support hours</a:t>
            </a:r>
            <a:endParaRPr lang="en-US" sz="11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Concentration in early customers → diversify verticals (refrigerated, flatbed, last-mile)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BREAK-EVEN SANITY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Back-of-Envelope: Cover $680K Year-5 Opex (Model)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SaaS gross profit must fund team — not hosting alone.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44652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· Investor economics · https://fleetcomanagement.org · Slide 34 · Oct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Year 5 opex in model: $680K · Gross profit: $765K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At 68% GM, revenue needed to cover opex only: ~$1000K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Model actual Year 5 revenue: $1.12M — exceeds that threshold → positive EBITDA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Hosting line item alone would require ~200+ customers at $15 ARPU equivalent — actual ARPU 10× higher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Full 10-Year Base Projection (SaaS)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4652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· Investor economics · https://fleetcomanagement.org · Slide 35 · Oct 2026</a:t>
            </a:r>
            <a:endParaRPr lang="en-US" sz="8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55680" cy="914400"/>
        </p:xfrm>
        <a:graphic>
          <a:graphicData uri="http://schemas.openxmlformats.org/drawingml/2006/table">
            <a:tbl>
              <a:tblPr/>
              <a:tblGrid>
                <a:gridCol w="1593669"/>
                <a:gridCol w="1593669"/>
                <a:gridCol w="1593669"/>
                <a:gridCol w="1593669"/>
                <a:gridCol w="1593669"/>
                <a:gridCol w="1593669"/>
                <a:gridCol w="159366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Cust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cust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Rev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Opex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EBITDA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$49K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$33K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$180K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$-146,952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$169K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$115K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$280K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$-164,944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85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$367K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$249K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$380K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$-130,671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145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115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$690K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$469K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$520K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$-50,800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220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182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$1.12M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$765K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$680K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$85K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310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265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$1.70M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$1.16M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$900K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$257K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410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360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$2.40M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$1.63M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$1.15M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$480K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520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465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$3.21M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$2.18M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$1.45M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$731K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640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580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$4.11M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$2.79M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$1.75M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$1.04M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780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710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$5.20M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$3.53M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$2.10M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$1.43M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NEXT STEPS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Due Diligence &amp; Live Demo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4652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FleetCo Management · Investor economics · https://fleetcomanagement.org · Slide 36 · Oct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1097280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Live production tenant: https://fleetcomanagement.org — owner demo and customer-scoped review accounts on request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Technical appendix: system capabilities deck, deep-dive deck, smartphone telematics deck (regenerate via npm scripts)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Financial appendix: marketing/business plan PDF (npm run marketing:plan)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Contact: support@fleetcomanagement.org · (360) 952-1249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This document is illustrative; verify all projections with your CPA and counsel before investment decisions.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FleetCo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FleetCo Management — Investor Cost &amp; Revenue Analysis</dc:title>
  <dc:subject>Hosting economics, unit economics, growth projections, platform data scope</dc:subject>
  <dc:creator>Fleetco Management LLC</dc:creator>
  <cp:lastModifiedBy>Fleetco Management LLC</cp:lastModifiedBy>
  <cp:revision>1</cp:revision>
  <dcterms:created xsi:type="dcterms:W3CDTF">2026-10-30T11:31:54Z</dcterms:created>
  <dcterms:modified xsi:type="dcterms:W3CDTF">2026-10-30T11:31:54Z</dcterms:modified>
</cp:coreProperties>
</file>